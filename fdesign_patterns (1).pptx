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743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Patterns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in Software Engineering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474720"/>
            <a:ext cx="2743200" cy="2286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Simple explanation with real-world examples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Are Design Patterns?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1508760"/>
            <a:ext cx="50292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Reusable solutions</a:t>
            </a: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to problems that come up again and again in code.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actual code.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More like a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proven approach</a:t>
            </a: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you apply to your situation.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Think of it like a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cooking recipe:</a:t>
            </a: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it tells you the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and logic — but you still cook the dish yourself.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217920" y="1508760"/>
            <a:ext cx="2468880" cy="292608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40080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RECIPE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0" y="2194560"/>
            <a:ext cx="201168" cy="20116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675120" y="21671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Identify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0" y="2697480"/>
            <a:ext cx="201168" cy="20116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675120" y="26700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Pick the right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0" y="3200400"/>
            <a:ext cx="201168" cy="20116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675120" y="31729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Apply to your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0" y="3703320"/>
            <a:ext cx="201168" cy="20116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675120" y="36758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Solve consistently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Design Patterns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365760" y="1554480"/>
            <a:ext cx="2651760" cy="3200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48640" y="1737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created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2926080"/>
            <a:ext cx="22860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48640" y="306324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Control the way objects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instantiated in your program.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383280" y="1554480"/>
            <a:ext cx="2651760" cy="3200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566160" y="1737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STRUCTURAL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56616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566160" y="2926080"/>
            <a:ext cx="22860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566160" y="306324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Define how classes and objects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are composed into larger structures.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0" y="1554480"/>
            <a:ext cx="2651760" cy="3200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583680" y="1737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BEHAVIORAL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58368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objects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communicate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583680" y="2926080"/>
            <a:ext cx="22860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583680" y="306324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Manage how objects interact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and share responsibilities.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Singleton Pattern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57200" y="15087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one instance</a:t>
            </a: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of a class exists throughout the entire app.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" y="23317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Everyone shares the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object.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Real-world examples: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3337560"/>
            <a:ext cx="54864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58368" y="33101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Database connection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7200" y="3721608"/>
            <a:ext cx="54864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58368" y="36941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App logger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4105656"/>
            <a:ext cx="54864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58368" y="40782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Config settings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309360" y="2011680"/>
            <a:ext cx="192024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309360" y="201168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480560" y="1417320"/>
            <a:ext cx="1188720" cy="457200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480560" y="14173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Module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5669280" y="1645920"/>
            <a:ext cx="621792" cy="754380"/>
          </a:xfrm>
          <a:prstGeom prst="straightConnector1">
            <a:avLst/>
          </a:prstGeom>
          <a:noFill/>
          <a:ln cap="flat" cmpd="sng" w="19050">
            <a:solidFill>
              <a:srgbClr val="44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4480560" y="2103120"/>
            <a:ext cx="1188720" cy="457200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480560" y="21031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Module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6"/>
          <p:cNvCxnSpPr/>
          <p:nvPr/>
        </p:nvCxnSpPr>
        <p:spPr>
          <a:xfrm>
            <a:off x="5669280" y="2331720"/>
            <a:ext cx="621792" cy="68580"/>
          </a:xfrm>
          <a:prstGeom prst="straightConnector1">
            <a:avLst/>
          </a:prstGeom>
          <a:noFill/>
          <a:ln cap="flat" cmpd="sng" w="19050">
            <a:solidFill>
              <a:srgbClr val="44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/>
          <p:nvPr/>
        </p:nvSpPr>
        <p:spPr>
          <a:xfrm>
            <a:off x="4480560" y="2788920"/>
            <a:ext cx="1188720" cy="457200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480560" y="27889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Module 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 flipH="1" rot="10800000">
            <a:off x="5669280" y="2400300"/>
            <a:ext cx="621792" cy="617220"/>
          </a:xfrm>
          <a:prstGeom prst="straightConnector1">
            <a:avLst/>
          </a:prstGeom>
          <a:noFill/>
          <a:ln cap="flat" cmpd="sng" w="19050">
            <a:solidFill>
              <a:srgbClr val="44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5212080" y="37490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All share one object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Singleton: Code Example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65760" y="1508760"/>
            <a:ext cx="5120640" cy="333756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074920" y="157276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C#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84500" y="1508750"/>
            <a:ext cx="49020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private static </a:t>
            </a:r>
            <a:r>
              <a:rPr b="0" i="0" lang="en-US" sz="11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instance;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private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Logger() { }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public static </a:t>
            </a:r>
            <a:r>
              <a:rPr b="0" i="0" lang="en-US" sz="11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GetInstance()</a:t>
            </a:r>
            <a:b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    if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(instance == </a:t>
            </a: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          instance = </a:t>
            </a: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b="0" i="0" lang="en-US" sz="11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Logger();</a:t>
            </a:r>
            <a:br>
              <a:rPr b="0" i="0" lang="en-US" sz="11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    return 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instance;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public void </a:t>
            </a:r>
            <a:r>
              <a:rPr b="0" i="0" lang="en-US" sz="11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(string message)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  { Console.WriteLine(message); }</a:t>
            </a:r>
            <a:b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760720" y="1600200"/>
            <a:ext cx="3017520" cy="8686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943600" y="16733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private constructor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943600" y="20391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Blocks anyone from using new Logger() directly.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760720" y="2651760"/>
            <a:ext cx="3017520" cy="8686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943600" y="2724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static instance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943600" y="30906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The one shared object lives 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760720" y="3703320"/>
            <a:ext cx="3017520" cy="8686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943600" y="37764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GetInstance()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943600" y="41422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Creates the object once, returns it every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760720" y="4572000"/>
            <a:ext cx="301752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760720" y="46634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Every part of the app uses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the same Logger object.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Observer Pattern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57200" y="15087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object notifies</a:t>
            </a: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many others when something changes.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57200" y="2331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r>
              <a:rPr b="0" i="0" lang="en-US" sz="15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communication.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Real-world examples: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57200" y="3337560"/>
            <a:ext cx="54864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658368" y="33101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YouTube subscriptions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3721608"/>
            <a:ext cx="54864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58368" y="36941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Push 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4105656"/>
            <a:ext cx="54864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58368" y="40782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Stock price 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577840" y="1554480"/>
            <a:ext cx="1828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577840" y="15544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772400" y="1371600"/>
            <a:ext cx="1371600" cy="5029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7772400" y="13716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Observer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8"/>
          <p:cNvCxnSpPr/>
          <p:nvPr/>
        </p:nvCxnSpPr>
        <p:spPr>
          <a:xfrm flipH="1" rot="10800000">
            <a:off x="7406640" y="1623060"/>
            <a:ext cx="502920" cy="251460"/>
          </a:xfrm>
          <a:prstGeom prst="straightConnector1">
            <a:avLst/>
          </a:prstGeom>
          <a:noFill/>
          <a:ln cap="flat" cmpd="sng" w="19050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6" name="Google Shape;136;p8"/>
          <p:cNvSpPr/>
          <p:nvPr/>
        </p:nvSpPr>
        <p:spPr>
          <a:xfrm>
            <a:off x="7772400" y="2148840"/>
            <a:ext cx="1371600" cy="5029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772400" y="21488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Observer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8"/>
          <p:cNvCxnSpPr/>
          <p:nvPr/>
        </p:nvCxnSpPr>
        <p:spPr>
          <a:xfrm>
            <a:off x="7406640" y="1874520"/>
            <a:ext cx="502920" cy="525780"/>
          </a:xfrm>
          <a:prstGeom prst="straightConnector1">
            <a:avLst/>
          </a:prstGeom>
          <a:noFill/>
          <a:ln cap="flat" cmpd="sng" w="19050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9" name="Google Shape;139;p8"/>
          <p:cNvSpPr/>
          <p:nvPr/>
        </p:nvSpPr>
        <p:spPr>
          <a:xfrm>
            <a:off x="7772400" y="2926080"/>
            <a:ext cx="1371600" cy="5029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772400" y="29260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Observer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7406640" y="1874520"/>
            <a:ext cx="502920" cy="1303020"/>
          </a:xfrm>
          <a:prstGeom prst="straightConnector1">
            <a:avLst/>
          </a:prstGeom>
          <a:noFill/>
          <a:ln cap="flat" cmpd="sng" w="19050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2" name="Google Shape;142;p8"/>
          <p:cNvSpPr/>
          <p:nvPr/>
        </p:nvSpPr>
        <p:spPr>
          <a:xfrm>
            <a:off x="7772400" y="3703320"/>
            <a:ext cx="1371600" cy="5029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772400" y="37033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Observer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7406640" y="1874520"/>
            <a:ext cx="502920" cy="2080260"/>
          </a:xfrm>
          <a:prstGeom prst="straightConnector1">
            <a:avLst/>
          </a:prstGeom>
          <a:noFill/>
          <a:ln cap="flat" cmpd="sng" w="19050">
            <a:solidFill>
              <a:srgbClr val="55555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5" name="Google Shape;145;p8"/>
          <p:cNvSpPr/>
          <p:nvPr/>
        </p:nvSpPr>
        <p:spPr>
          <a:xfrm>
            <a:off x="5394960" y="4389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 event → many listeners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Observer: Code Example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65760" y="1508760"/>
            <a:ext cx="5120640" cy="333756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074920" y="157276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C#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1664208"/>
            <a:ext cx="484632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Subscriber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public string 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Name;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public 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Subscriber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(string name) { Name = name; }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public void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Notify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(string video)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{ Console.WriteLine(Name + 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"got: "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+ video); }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Channel</a:t>
            </a:r>
            <a:b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private 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List&lt;Subscriber&gt;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subs = new();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public void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Subscribe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Subscriber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sub) { subs.Add(sub); }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public void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UploadVideo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(string video)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  foreach (var sub </a:t>
            </a: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subs)</a:t>
            </a:r>
            <a:b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    sub.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Notify</a:t>
            </a: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(video);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760720" y="1600200"/>
            <a:ext cx="3017520" cy="8686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943600" y="167335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Subscriber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943600" y="20391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Each subscriber has a name and a Notify() method.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760720" y="2651760"/>
            <a:ext cx="3017520" cy="8686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943600" y="2724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Channel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943600" y="30906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Holds a list of subscribers and lets them join.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760720" y="3703320"/>
            <a:ext cx="3017520" cy="8686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943600" y="37764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UploadVideo()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943600" y="41422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Loops through all subscribers and calls Notify().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760720" y="4572000"/>
            <a:ext cx="301752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760720" y="46634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When the channel uploads a video,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all subscribers get notified.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Use Design Patterns?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457200" y="1600200"/>
            <a:ext cx="402336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640080" y="17373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40080" y="20574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Cleaner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Less duplication, more clarity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800600" y="1600200"/>
            <a:ext cx="402336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4983480" y="17373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983480" y="20574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Reusability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983480" y="2468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Apply the same solution in new projects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3154680"/>
            <a:ext cx="402336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40080" y="3611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Easy Maintenance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Easier for teammates to read &amp;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800600" y="3154680"/>
            <a:ext cx="4023360" cy="132588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4983480" y="32918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983480" y="36118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Industry Standard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983480" y="4023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Widely used — teams expect them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